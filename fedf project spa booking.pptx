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1" r:id="rId5"/>
    <p:sldId id="263" r:id="rId6"/>
    <p:sldId id="267" r:id="rId7"/>
    <p:sldId id="268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2" d="100"/>
          <a:sy n="102" d="100"/>
        </p:scale>
        <p:origin x="6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5259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02809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949440" y="2926080"/>
            <a:ext cx="4114800" cy="4114800"/>
          </a:xfrm>
          <a:prstGeom prst="ellipse">
            <a:avLst/>
          </a:prstGeom>
          <a:solidFill>
            <a:srgbClr val="00A896">
              <a:alpha val="18000"/>
            </a:srgbClr>
          </a:solidFill>
          <a:ln w="12700">
            <a:solidFill>
              <a:srgbClr val="00A89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955280" y="-640080"/>
            <a:ext cx="2011680" cy="201168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256032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389888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Spa &amp; Wellness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208483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Booking Platform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2926080" y="2807208"/>
            <a:ext cx="3291840" cy="411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57200" y="29443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BEC8"/>
                </a:solidFill>
              </a:rPr>
              <a:t>A Smart Digital Solution for Spa &amp; Wellness Service Management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05840" y="3493008"/>
            <a:ext cx="7132320" cy="1325880"/>
          </a:xfrm>
          <a:prstGeom prst="rect">
            <a:avLst/>
          </a:prstGeom>
          <a:solidFill>
            <a:srgbClr val="0E3340"/>
          </a:solidFill>
          <a:ln w="12700">
            <a:solidFill>
              <a:srgbClr val="02809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363931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630168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Team Members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188720" y="404164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P. SRIJA – 2520090053</a:t>
            </a:r>
            <a:r>
              <a:rPr lang="en-US" sz="1200" dirty="0">
                <a:solidFill>
                  <a:srgbClr val="7ABEC8"/>
                </a:solidFill>
              </a:rPr>
              <a:t>     |     </a:t>
            </a:r>
            <a:r>
              <a:rPr lang="en-US" sz="1200" dirty="0">
                <a:solidFill>
                  <a:srgbClr val="FFFFFF"/>
                </a:solidFill>
              </a:rPr>
              <a:t>P. PRAVEENA – 2520090057</a:t>
            </a:r>
            <a:r>
              <a:rPr lang="en-US" sz="1200" dirty="0">
                <a:solidFill>
                  <a:srgbClr val="7ABEC8"/>
                </a:solidFill>
              </a:rPr>
              <a:t>     |     </a:t>
            </a:r>
            <a:r>
              <a:rPr lang="en-US" sz="1200" dirty="0">
                <a:solidFill>
                  <a:srgbClr val="FFFFFF"/>
                </a:solidFill>
              </a:rPr>
              <a:t>Y. AKSHAYA – 2520030577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730"/>
          </a:solidFill>
          <a:ln w="12700">
            <a:solidFill>
              <a:srgbClr val="0A27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6459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104241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730"/>
                </a:solidFill>
              </a:rPr>
              <a:t>Most spas today depend on manual processes — phone calls, paper records, verbal confirmations. This creates: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627632"/>
            <a:ext cx="2788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74320" y="1627632"/>
            <a:ext cx="2788920" cy="64008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1810512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" y="173736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730"/>
                </a:solidFill>
              </a:rPr>
              <a:t>Double Bookings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384048" y="2157984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Multiple clients assigned to the same slot — no real-time availability check.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46120" y="1627632"/>
            <a:ext cx="2788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3246120" y="1627632"/>
            <a:ext cx="2788920" cy="64008"/>
          </a:xfrm>
          <a:prstGeom prst="rect">
            <a:avLst/>
          </a:prstGeom>
          <a:solidFill>
            <a:srgbClr val="F4C26A"/>
          </a:solidFill>
          <a:ln w="12700">
            <a:solidFill>
              <a:srgbClr val="F4C2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136" y="181051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13048" y="173736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730"/>
                </a:solidFill>
              </a:rPr>
              <a:t>Appointment Confusion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3355848" y="2157984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Miscommunication causes missed or mixed-up sessions for both clients and staff.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217920" y="1627632"/>
            <a:ext cx="2788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6217920" y="1627632"/>
            <a:ext cx="278892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810512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84848" y="173736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730"/>
                </a:solidFill>
              </a:rPr>
              <a:t>Poor Customer Management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327648" y="2157984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No digital records — customer history, preferences and data are completely lost.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274320" y="2926080"/>
            <a:ext cx="2788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274320" y="2926080"/>
            <a:ext cx="2788920" cy="64008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" y="310896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41248" y="303580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730"/>
                </a:solidFill>
              </a:rPr>
              <a:t>Time Wastage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384048" y="3456432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Manual follow-ups, calls and paperwork drain staff productivity every day.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3246120" y="2926080"/>
            <a:ext cx="2788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0"/>
          <p:cNvSpPr/>
          <p:nvPr/>
        </p:nvSpPr>
        <p:spPr>
          <a:xfrm>
            <a:off x="3246120" y="2926080"/>
            <a:ext cx="2788920" cy="64008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3108960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813048" y="303580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730"/>
                </a:solidFill>
              </a:rPr>
              <a:t>Limited Accessibility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3355848" y="3456432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Clients can only book during business hours via call — no 24/7 self-service.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217920" y="2926080"/>
            <a:ext cx="2788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4"/>
          <p:cNvSpPr/>
          <p:nvPr/>
        </p:nvSpPr>
        <p:spPr>
          <a:xfrm>
            <a:off x="6217920" y="2926080"/>
            <a:ext cx="278892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3108960"/>
            <a:ext cx="365760" cy="36576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784848" y="303580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730"/>
                </a:solidFill>
              </a:rPr>
              <a:t>No Business Insights</a:t>
            </a:r>
            <a:endParaRPr lang="en-US" sz="1150" dirty="0"/>
          </a:p>
        </p:txBody>
      </p:sp>
      <p:sp>
        <p:nvSpPr>
          <p:cNvPr id="35" name="Text 26"/>
          <p:cNvSpPr/>
          <p:nvPr/>
        </p:nvSpPr>
        <p:spPr>
          <a:xfrm>
            <a:off x="6327648" y="3456432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No analytics or reports to track bookings, revenue or popular services.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28"/>
          <p:cNvSpPr/>
          <p:nvPr/>
        </p:nvSpPr>
        <p:spPr>
          <a:xfrm>
            <a:off x="365760" y="470001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Solution: A fully digital, automated web platform that eliminates these inefficiencies end-to-end.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6459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 &amp; Objectives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5120640" cy="3886200"/>
          </a:xfrm>
          <a:prstGeom prst="rect">
            <a:avLst/>
          </a:prstGeom>
          <a:solidFill>
            <a:srgbClr val="0E3340"/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What is it?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481328"/>
            <a:ext cx="4800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8EEF0"/>
                </a:solidFill>
              </a:rPr>
              <a:t>The Advanced Spa &amp; Wellness Booking Platform is an innovative web-based SPA (Single Page Application) that digitizes and automates spa service management.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8EEF0"/>
                </a:solidFill>
              </a:rPr>
              <a:t>Users can: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8EEF0"/>
                </a:solidFill>
              </a:rPr>
              <a:t>• Discover and explore available spa services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8EEF0"/>
                </a:solidFill>
              </a:rPr>
              <a:t>• View detailed service info and pricing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8EEF0"/>
                </a:solidFill>
              </a:rPr>
              <a:t>• Book appointments with date &amp; time selection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8EEF0"/>
                </a:solidFill>
              </a:rPr>
              <a:t>• Manage bookings from a personal dashboard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8EEF0"/>
                </a:solidFill>
              </a:rPr>
              <a:t>• View complete booking history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8EEF0"/>
                </a:solidFill>
              </a:rPr>
              <a:t>Service providers benefit from: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8EEF0"/>
                </a:solidFill>
              </a:rPr>
              <a:t>• Centralized booking management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8EEF0"/>
                </a:solidFill>
              </a:rPr>
              <a:t>• Reduced manual workload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8EEF0"/>
                </a:solidFill>
              </a:rPr>
              <a:t>• Better customer data &amp; insights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23560" y="102412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Objectives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23560" y="1444752"/>
            <a:ext cx="3246120" cy="594360"/>
          </a:xfrm>
          <a:prstGeom prst="rect">
            <a:avLst/>
          </a:prstGeom>
          <a:solidFill>
            <a:srgbClr val="0E3340"/>
          </a:solidFill>
          <a:ln w="12700">
            <a:solidFill>
              <a:srgbClr val="02C39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2" y="155448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99632" y="15727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Digitize spa booking end-to-end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623560" y="2148840"/>
            <a:ext cx="3246120" cy="594360"/>
          </a:xfrm>
          <a:prstGeom prst="rect">
            <a:avLst/>
          </a:prstGeom>
          <a:solidFill>
            <a:srgbClr val="0E3340"/>
          </a:solidFill>
          <a:ln w="12700">
            <a:solidFill>
              <a:srgbClr val="F4C26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432" y="225856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99632" y="227685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Improve customer experience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623560" y="2852928"/>
            <a:ext cx="3246120" cy="594360"/>
          </a:xfrm>
          <a:prstGeom prst="rect">
            <a:avLst/>
          </a:prstGeom>
          <a:solidFill>
            <a:srgbClr val="0E3340"/>
          </a:solidFill>
          <a:ln w="12700">
            <a:solidFill>
              <a:srgbClr val="E8604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2432" y="2962656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99632" y="29809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Eliminate double bookings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623560" y="3557016"/>
            <a:ext cx="3246120" cy="594360"/>
          </a:xfrm>
          <a:prstGeom prst="rect">
            <a:avLst/>
          </a:prstGeom>
          <a:solidFill>
            <a:srgbClr val="0E3340"/>
          </a:solidFill>
          <a:ln w="12700">
            <a:solidFill>
              <a:srgbClr val="00A89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2432" y="3666744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199632" y="36850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Provide booking analytics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5623560" y="4261104"/>
            <a:ext cx="3246120" cy="594360"/>
          </a:xfrm>
          <a:prstGeom prst="rect">
            <a:avLst/>
          </a:prstGeom>
          <a:solidFill>
            <a:srgbClr val="0E3340"/>
          </a:solidFill>
          <a:ln w="12700">
            <a:solidFill>
              <a:srgbClr val="7C5CB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2432" y="4370832"/>
            <a:ext cx="347472" cy="34747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199632" y="4389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Enable 24/7 self-service access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6459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— SPA Navigation Flow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8595360" cy="548640"/>
          </a:xfrm>
          <a:prstGeom prst="rect">
            <a:avLst/>
          </a:prstGeom>
          <a:solidFill>
            <a:srgbClr val="0E3340"/>
          </a:solidFill>
          <a:ln w="12700">
            <a:solidFill>
              <a:srgbClr val="7ABEC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365760" y="1097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BEC8"/>
                </a:solidFill>
              </a:rPr>
              <a:t>👤  User / Browser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520440" y="1783080"/>
            <a:ext cx="2103120" cy="10515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520440" y="1865376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SPA Router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874520"/>
            <a:ext cx="1965960" cy="640080"/>
          </a:xfrm>
          <a:prstGeom prst="rect">
            <a:avLst/>
          </a:prstGeom>
          <a:solidFill>
            <a:srgbClr val="0E334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65760" y="198424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🏠  Home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3063240"/>
            <a:ext cx="1965960" cy="640080"/>
          </a:xfrm>
          <a:prstGeom prst="rect">
            <a:avLst/>
          </a:prstGeom>
          <a:solidFill>
            <a:srgbClr val="0E3340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65760" y="317296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96"/>
                </a:solidFill>
              </a:rPr>
              <a:t>💆  Services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583680" y="1874520"/>
            <a:ext cx="1965960" cy="640080"/>
          </a:xfrm>
          <a:prstGeom prst="rect">
            <a:avLst/>
          </a:prstGeom>
          <a:solidFill>
            <a:srgbClr val="0E3340"/>
          </a:solidFill>
          <a:ln w="12700">
            <a:solidFill>
              <a:srgbClr val="F4C2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583680" y="198424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C26A"/>
                </a:solidFill>
              </a:rPr>
              <a:t>📅  Booking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83680" y="3063240"/>
            <a:ext cx="1965960" cy="640080"/>
          </a:xfrm>
          <a:prstGeom prst="rect">
            <a:avLst/>
          </a:prstGeom>
          <a:solidFill>
            <a:srgbClr val="0E3340"/>
          </a:solidFill>
          <a:ln w="127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583680" y="317296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04C"/>
                </a:solidFill>
              </a:rPr>
              <a:t>📊  Dashboard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331720" y="2194560"/>
            <a:ext cx="118872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2331720" y="3383280"/>
            <a:ext cx="6400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5623560" y="2194560"/>
            <a:ext cx="960120" cy="0"/>
          </a:xfrm>
          <a:prstGeom prst="line">
            <a:avLst/>
          </a:prstGeom>
          <a:noFill/>
          <a:ln w="19050">
            <a:solidFill>
              <a:srgbClr val="F4C26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5623560" y="2468880"/>
            <a:ext cx="640080" cy="868680"/>
          </a:xfrm>
          <a:prstGeom prst="line">
            <a:avLst/>
          </a:prstGeom>
          <a:noFill/>
          <a:ln w="19050">
            <a:solidFill>
              <a:srgbClr val="E8604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2011680" y="3886200"/>
            <a:ext cx="5120640" cy="566928"/>
          </a:xfrm>
          <a:prstGeom prst="rect">
            <a:avLst/>
          </a:prstGeom>
          <a:solidFill>
            <a:srgbClr val="0E334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2011680" y="3950208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C39A"/>
                </a:solidFill>
              </a:rPr>
              <a:t>⚙  Shared State &amp; Data Synchronization Layer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274320" y="4645152"/>
            <a:ext cx="8595360" cy="457200"/>
          </a:xfrm>
          <a:prstGeom prst="rect">
            <a:avLst/>
          </a:prstGeom>
          <a:solidFill>
            <a:srgbClr val="0E3340"/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65760" y="470916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BEC8"/>
                </a:solidFill>
              </a:rPr>
              <a:t>Booking Flow:  Browse Services  →  Select Date/Time  →  Fill Form  →  Validate  →  Confirm  →  View in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657600" cy="3657600"/>
          </a:xfrm>
          <a:prstGeom prst="ellipse">
            <a:avLst/>
          </a:prstGeom>
          <a:solidFill>
            <a:srgbClr val="028090">
              <a:alpha val="17000"/>
            </a:srgbClr>
          </a:solidFill>
          <a:ln w="12700">
            <a:solidFill>
              <a:srgbClr val="028090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6459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 Services Offered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74320" y="987552"/>
            <a:ext cx="2724912" cy="1664208"/>
          </a:xfrm>
          <a:prstGeom prst="rect">
            <a:avLst/>
          </a:prstGeom>
          <a:solidFill>
            <a:srgbClr val="0E3340"/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74320" y="987552"/>
            <a:ext cx="2724912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1152144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12471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Body Massage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84048" y="15819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BEC8"/>
                </a:solidFill>
              </a:rPr>
              <a:t>Relaxation, deep tissue &amp; aromatherapy massage sessions.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84048" y="2121408"/>
            <a:ext cx="1170432" cy="384048"/>
          </a:xfrm>
          <a:prstGeom prst="rect">
            <a:avLst/>
          </a:prstGeom>
          <a:solidFill>
            <a:srgbClr val="0A2730"/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384048" y="215798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BEC8"/>
                </a:solidFill>
              </a:rPr>
              <a:t>⏱ 60-90 min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1664208" y="2121408"/>
            <a:ext cx="1234440" cy="384048"/>
          </a:xfrm>
          <a:prstGeom prst="rect">
            <a:avLst/>
          </a:prstGeom>
          <a:solidFill>
            <a:srgbClr val="028090">
              <a:alpha val="45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1664208" y="215798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₹1,200+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218688" y="987552"/>
            <a:ext cx="2724912" cy="1664208"/>
          </a:xfrm>
          <a:prstGeom prst="rect">
            <a:avLst/>
          </a:prstGeom>
          <a:solidFill>
            <a:srgbClr val="0E3340"/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3218688" y="987552"/>
            <a:ext cx="2724912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704" y="1152144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13048" y="112471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Yoga &amp; Meditation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328416" y="15819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BEC8"/>
                </a:solidFill>
              </a:rPr>
              <a:t>Guided yoga flows and mindfulness meditation classes.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328416" y="2121408"/>
            <a:ext cx="1170432" cy="384048"/>
          </a:xfrm>
          <a:prstGeom prst="rect">
            <a:avLst/>
          </a:prstGeom>
          <a:solidFill>
            <a:srgbClr val="0A2730"/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/>
          <p:nvPr/>
        </p:nvSpPr>
        <p:spPr>
          <a:xfrm>
            <a:off x="3328416" y="215798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BEC8"/>
                </a:solidFill>
              </a:rPr>
              <a:t>⏱ 45-60 min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608576" y="2121408"/>
            <a:ext cx="1234440" cy="384048"/>
          </a:xfrm>
          <a:prstGeom prst="rect">
            <a:avLst/>
          </a:prstGeom>
          <a:solidFill>
            <a:srgbClr val="00A896">
              <a:alpha val="4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4608576" y="215798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₹800+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172200" y="987552"/>
            <a:ext cx="2724912" cy="1664208"/>
          </a:xfrm>
          <a:prstGeom prst="rect">
            <a:avLst/>
          </a:prstGeom>
          <a:solidFill>
            <a:srgbClr val="0E3340"/>
          </a:solidFill>
          <a:ln w="12700">
            <a:solidFill>
              <a:srgbClr val="F4C26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6172200" y="987552"/>
            <a:ext cx="2724912" cy="64008"/>
          </a:xfrm>
          <a:prstGeom prst="rect">
            <a:avLst/>
          </a:prstGeom>
          <a:solidFill>
            <a:srgbClr val="F4C26A"/>
          </a:solidFill>
          <a:ln w="12700">
            <a:solidFill>
              <a:srgbClr val="F4C2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1152144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66560" y="112471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Beauty Treatments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281928" y="15819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BEC8"/>
                </a:solidFill>
              </a:rPr>
              <a:t>Manicure, pedicure, waxing and hair spa services.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6281928" y="2121408"/>
            <a:ext cx="1170432" cy="384048"/>
          </a:xfrm>
          <a:prstGeom prst="rect">
            <a:avLst/>
          </a:prstGeom>
          <a:solidFill>
            <a:srgbClr val="0A2730"/>
          </a:solidFill>
          <a:ln w="12700">
            <a:solidFill>
              <a:srgbClr val="F4C26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4"/>
          <p:cNvSpPr/>
          <p:nvPr/>
        </p:nvSpPr>
        <p:spPr>
          <a:xfrm>
            <a:off x="6281928" y="215798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BEC8"/>
                </a:solidFill>
              </a:rPr>
              <a:t>⏱ 30-120 min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7562088" y="2121408"/>
            <a:ext cx="1234440" cy="384048"/>
          </a:xfrm>
          <a:prstGeom prst="rect">
            <a:avLst/>
          </a:prstGeom>
          <a:solidFill>
            <a:srgbClr val="F4C26A">
              <a:alpha val="45000"/>
            </a:srgbClr>
          </a:solidFill>
          <a:ln w="12700">
            <a:solidFill>
              <a:srgbClr val="F4C2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6"/>
          <p:cNvSpPr/>
          <p:nvPr/>
        </p:nvSpPr>
        <p:spPr>
          <a:xfrm>
            <a:off x="7562088" y="215798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₹500+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274320" y="2761488"/>
            <a:ext cx="2724912" cy="1664208"/>
          </a:xfrm>
          <a:prstGeom prst="rect">
            <a:avLst/>
          </a:prstGeom>
          <a:solidFill>
            <a:srgbClr val="0E3340"/>
          </a:solidFill>
          <a:ln w="12700">
            <a:solidFill>
              <a:srgbClr val="E8604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28"/>
          <p:cNvSpPr/>
          <p:nvPr/>
        </p:nvSpPr>
        <p:spPr>
          <a:xfrm>
            <a:off x="274320" y="2761488"/>
            <a:ext cx="2724912" cy="64008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336" y="2926080"/>
            <a:ext cx="384048" cy="38404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68680" y="289864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Facial &amp; Skin Care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384048" y="335584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BEC8"/>
                </a:solidFill>
              </a:rPr>
              <a:t>Deep cleansing facials, anti-ageing and brightening treatments.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384048" y="3895344"/>
            <a:ext cx="1170432" cy="384048"/>
          </a:xfrm>
          <a:prstGeom prst="rect">
            <a:avLst/>
          </a:prstGeom>
          <a:solidFill>
            <a:srgbClr val="0A2730"/>
          </a:solidFill>
          <a:ln w="12700">
            <a:solidFill>
              <a:srgbClr val="E8604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2"/>
          <p:cNvSpPr/>
          <p:nvPr/>
        </p:nvSpPr>
        <p:spPr>
          <a:xfrm>
            <a:off x="384048" y="393192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BEC8"/>
                </a:solidFill>
              </a:rPr>
              <a:t>⏱ 60 min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1664208" y="3895344"/>
            <a:ext cx="1234440" cy="384048"/>
          </a:xfrm>
          <a:prstGeom prst="rect">
            <a:avLst/>
          </a:prstGeom>
          <a:solidFill>
            <a:srgbClr val="E8604C">
              <a:alpha val="45000"/>
            </a:srgbClr>
          </a:solidFill>
          <a:ln w="127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4"/>
          <p:cNvSpPr/>
          <p:nvPr/>
        </p:nvSpPr>
        <p:spPr>
          <a:xfrm>
            <a:off x="1664208" y="39319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₹1,500+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3218688" y="2761488"/>
            <a:ext cx="2724912" cy="1664208"/>
          </a:xfrm>
          <a:prstGeom prst="rect">
            <a:avLst/>
          </a:prstGeom>
          <a:solidFill>
            <a:srgbClr val="0E3340"/>
          </a:solidFill>
          <a:ln w="12700">
            <a:solidFill>
              <a:srgbClr val="7C5CB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36"/>
          <p:cNvSpPr/>
          <p:nvPr/>
        </p:nvSpPr>
        <p:spPr>
          <a:xfrm>
            <a:off x="3218688" y="2761488"/>
            <a:ext cx="2724912" cy="64008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6704" y="2926080"/>
            <a:ext cx="384048" cy="384048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3813048" y="289864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Steam &amp; Sauna</a:t>
            </a:r>
            <a:endParaRPr lang="en-US" sz="1200" dirty="0"/>
          </a:p>
        </p:txBody>
      </p:sp>
      <p:sp>
        <p:nvSpPr>
          <p:cNvPr id="46" name="Text 38"/>
          <p:cNvSpPr/>
          <p:nvPr/>
        </p:nvSpPr>
        <p:spPr>
          <a:xfrm>
            <a:off x="3328416" y="335584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BEC8"/>
                </a:solidFill>
              </a:rPr>
              <a:t>Finnish sauna and steam room for detox and relaxation.</a:t>
            </a:r>
            <a:endParaRPr lang="en-US" sz="950" dirty="0"/>
          </a:p>
        </p:txBody>
      </p:sp>
      <p:sp>
        <p:nvSpPr>
          <p:cNvPr id="47" name="Shape 39"/>
          <p:cNvSpPr/>
          <p:nvPr/>
        </p:nvSpPr>
        <p:spPr>
          <a:xfrm>
            <a:off x="3328416" y="3895344"/>
            <a:ext cx="1170432" cy="384048"/>
          </a:xfrm>
          <a:prstGeom prst="rect">
            <a:avLst/>
          </a:prstGeom>
          <a:solidFill>
            <a:srgbClr val="0A2730"/>
          </a:solidFill>
          <a:ln w="12700">
            <a:solidFill>
              <a:srgbClr val="7C5CB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0"/>
          <p:cNvSpPr/>
          <p:nvPr/>
        </p:nvSpPr>
        <p:spPr>
          <a:xfrm>
            <a:off x="3328416" y="393192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BEC8"/>
                </a:solidFill>
              </a:rPr>
              <a:t>⏱ 30-45 min</a:t>
            </a:r>
            <a:endParaRPr lang="en-US" sz="900" dirty="0"/>
          </a:p>
        </p:txBody>
      </p:sp>
      <p:sp>
        <p:nvSpPr>
          <p:cNvPr id="49" name="Shape 41"/>
          <p:cNvSpPr/>
          <p:nvPr/>
        </p:nvSpPr>
        <p:spPr>
          <a:xfrm>
            <a:off x="4608576" y="3895344"/>
            <a:ext cx="1234440" cy="384048"/>
          </a:xfrm>
          <a:prstGeom prst="rect">
            <a:avLst/>
          </a:prstGeom>
          <a:solidFill>
            <a:srgbClr val="7C5CBF">
              <a:alpha val="45000"/>
            </a:srgbClr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2"/>
          <p:cNvSpPr/>
          <p:nvPr/>
        </p:nvSpPr>
        <p:spPr>
          <a:xfrm>
            <a:off x="4608576" y="39319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₹600+</a:t>
            </a:r>
            <a:endParaRPr lang="en-US" sz="1000" dirty="0"/>
          </a:p>
        </p:txBody>
      </p:sp>
      <p:sp>
        <p:nvSpPr>
          <p:cNvPr id="51" name="Shape 43"/>
          <p:cNvSpPr/>
          <p:nvPr/>
        </p:nvSpPr>
        <p:spPr>
          <a:xfrm>
            <a:off x="6172200" y="2761488"/>
            <a:ext cx="2724912" cy="1664208"/>
          </a:xfrm>
          <a:prstGeom prst="rect">
            <a:avLst/>
          </a:prstGeom>
          <a:solidFill>
            <a:srgbClr val="0E3340"/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44"/>
          <p:cNvSpPr/>
          <p:nvPr/>
        </p:nvSpPr>
        <p:spPr>
          <a:xfrm>
            <a:off x="6172200" y="2761488"/>
            <a:ext cx="2724912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0216" y="2926080"/>
            <a:ext cx="384048" cy="384048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6766560" y="289864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Wellness Packages</a:t>
            </a:r>
            <a:endParaRPr lang="en-US" sz="1200" dirty="0"/>
          </a:p>
        </p:txBody>
      </p:sp>
      <p:sp>
        <p:nvSpPr>
          <p:cNvPr id="55" name="Text 46"/>
          <p:cNvSpPr/>
          <p:nvPr/>
        </p:nvSpPr>
        <p:spPr>
          <a:xfrm>
            <a:off x="6281928" y="335584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BEC8"/>
                </a:solidFill>
              </a:rPr>
              <a:t>Combo packages combining massage, facial and relaxation.</a:t>
            </a:r>
            <a:endParaRPr lang="en-US" sz="950" dirty="0"/>
          </a:p>
        </p:txBody>
      </p:sp>
      <p:sp>
        <p:nvSpPr>
          <p:cNvPr id="56" name="Shape 47"/>
          <p:cNvSpPr/>
          <p:nvPr/>
        </p:nvSpPr>
        <p:spPr>
          <a:xfrm>
            <a:off x="6281928" y="3895344"/>
            <a:ext cx="1170432" cy="384048"/>
          </a:xfrm>
          <a:prstGeom prst="rect">
            <a:avLst/>
          </a:prstGeom>
          <a:solidFill>
            <a:srgbClr val="0A2730"/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48"/>
          <p:cNvSpPr/>
          <p:nvPr/>
        </p:nvSpPr>
        <p:spPr>
          <a:xfrm>
            <a:off x="6281928" y="393192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BEC8"/>
                </a:solidFill>
              </a:rPr>
              <a:t>⏱ 3-5 hours</a:t>
            </a:r>
            <a:endParaRPr lang="en-US" sz="900" dirty="0"/>
          </a:p>
        </p:txBody>
      </p:sp>
      <p:sp>
        <p:nvSpPr>
          <p:cNvPr id="58" name="Shape 49"/>
          <p:cNvSpPr/>
          <p:nvPr/>
        </p:nvSpPr>
        <p:spPr>
          <a:xfrm>
            <a:off x="7562088" y="3895344"/>
            <a:ext cx="1234440" cy="384048"/>
          </a:xfrm>
          <a:prstGeom prst="rect">
            <a:avLst/>
          </a:prstGeom>
          <a:solidFill>
            <a:srgbClr val="02C39A">
              <a:alpha val="4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0"/>
          <p:cNvSpPr/>
          <p:nvPr/>
        </p:nvSpPr>
        <p:spPr>
          <a:xfrm>
            <a:off x="7562088" y="39319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₹3,500+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6459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024128"/>
            <a:ext cx="85953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74320" y="1024128"/>
            <a:ext cx="64008" cy="1874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57200" y="1115568"/>
            <a:ext cx="832104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A2730"/>
                </a:solidFill>
              </a:rPr>
              <a:t>The Advanced Spa &amp; Wellness Booking Platform is a viable, production-ready digital solution that eliminates the inefficiencies of manual spa management. By combining SPA navigation, real-time booking validation, user dashboards, secure access control, lazy loading and a responsive design — the platform delivers a seamless experience for both service seekers and providers.</a:t>
            </a: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endParaRPr lang="en-US" sz="12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A2730"/>
                </a:solidFill>
              </a:rPr>
              <a:t>Built with modern JavaScript and React best practices, this system is ready for real-world deployment in the wellness and service industry.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74320" y="29992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730"/>
                </a:solidFill>
              </a:rPr>
              <a:t>Project Achievements: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6032" y="3364992"/>
            <a:ext cx="135331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56032" y="3364992"/>
            <a:ext cx="1353312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49300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1752" y="4005072"/>
            <a:ext cx="1261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2730"/>
                </a:solidFill>
              </a:rPr>
              <a:t>Full SPA implemented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1755648" y="3364992"/>
            <a:ext cx="135331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1755648" y="3364992"/>
            <a:ext cx="135331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560" y="349300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01368" y="4005072"/>
            <a:ext cx="1261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2730"/>
                </a:solidFill>
              </a:rPr>
              <a:t>Booking validation done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3255264" y="3364992"/>
            <a:ext cx="135331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4C26A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3255264" y="3364992"/>
            <a:ext cx="1353312" cy="54864"/>
          </a:xfrm>
          <a:prstGeom prst="rect">
            <a:avLst/>
          </a:prstGeom>
          <a:solidFill>
            <a:srgbClr val="F4C26A"/>
          </a:solidFill>
          <a:ln w="12700">
            <a:solidFill>
              <a:srgbClr val="F4C2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4176" y="3493008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300984" y="4005072"/>
            <a:ext cx="1261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2730"/>
                </a:solidFill>
              </a:rPr>
              <a:t>Dashboard functional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4754880" y="3364992"/>
            <a:ext cx="135331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604C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4754880" y="3364992"/>
            <a:ext cx="1353312" cy="54864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3792" y="3493008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800600" y="4005072"/>
            <a:ext cx="1261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2730"/>
                </a:solidFill>
              </a:rPr>
              <a:t>Secure routes enforced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6254496" y="3364992"/>
            <a:ext cx="135331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19"/>
          <p:cNvSpPr/>
          <p:nvPr/>
        </p:nvSpPr>
        <p:spPr>
          <a:xfrm>
            <a:off x="6254496" y="3364992"/>
            <a:ext cx="1353312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3408" y="3493008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300216" y="4005072"/>
            <a:ext cx="1261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2730"/>
                </a:solidFill>
              </a:rPr>
              <a:t>Performance optimized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7754112" y="3364992"/>
            <a:ext cx="135331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7C5CB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2"/>
          <p:cNvSpPr/>
          <p:nvPr/>
        </p:nvSpPr>
        <p:spPr>
          <a:xfrm>
            <a:off x="7754112" y="3364992"/>
            <a:ext cx="1353312" cy="54864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3024" y="3493008"/>
            <a:ext cx="457200" cy="4572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799832" y="4005072"/>
            <a:ext cx="1261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2730"/>
                </a:solidFill>
              </a:rPr>
              <a:t>Fully responsive UI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2730"/>
          </a:solidFill>
          <a:ln w="12700">
            <a:solidFill>
              <a:srgbClr val="0A27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5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BEC8"/>
                </a:solidFill>
              </a:rPr>
              <a:t>P. SRIJA – 2520090053    |    P. PRAVEENA – 2520090057    |    Y. AKSHAYA – 2520030577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4114800" cy="4114800"/>
          </a:xfrm>
          <a:prstGeom prst="ellipse">
            <a:avLst/>
          </a:prstGeom>
          <a:solidFill>
            <a:srgbClr val="00A896">
              <a:alpha val="18000"/>
            </a:srgbClr>
          </a:solidFill>
          <a:ln w="12700">
            <a:solidFill>
              <a:srgbClr val="00A89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0" y="-731520"/>
            <a:ext cx="2011680" cy="2011680"/>
          </a:xfrm>
          <a:prstGeom prst="ellipse">
            <a:avLst/>
          </a:prstGeom>
          <a:solidFill>
            <a:srgbClr val="02C39A">
              <a:alpha val="28000"/>
            </a:srgbClr>
          </a:solidFill>
          <a:ln w="12700">
            <a:solidFill>
              <a:srgbClr val="02C39A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320040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63040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5000" dirty="0"/>
          </a:p>
        </p:txBody>
      </p:sp>
      <p:sp>
        <p:nvSpPr>
          <p:cNvPr id="7" name="Shape 4"/>
          <p:cNvSpPr/>
          <p:nvPr/>
        </p:nvSpPr>
        <p:spPr>
          <a:xfrm>
            <a:off x="2926080" y="2423160"/>
            <a:ext cx="329184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31520" y="2578608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7ABEC8"/>
                </a:solidFill>
              </a:rPr>
              <a:t>We hope this platform brings ease, elegance and efficiency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i="1" dirty="0">
                <a:solidFill>
                  <a:srgbClr val="7ABEC8"/>
                </a:solidFill>
              </a:rPr>
              <a:t>to the wellness and spa booking experience.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828800" y="3456432"/>
            <a:ext cx="5486400" cy="658368"/>
          </a:xfrm>
          <a:prstGeom prst="rect">
            <a:avLst/>
          </a:prstGeom>
          <a:solidFill>
            <a:srgbClr val="0E3340"/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828800" y="3529584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Advanced Spa &amp; Wellness Booking Platform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74320" y="463600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P. SRIJA – 2520090053    |    P. PRAVEENA – 2520090057    |    Y. AKSHAYA – 2520030577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599</Words>
  <Application>Microsoft Office PowerPoint</Application>
  <PresentationFormat>On-screen Show (16:9)</PresentationFormat>
  <Paragraphs>99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Spa &amp; Wellness Booking Platform</dc:title>
  <dc:subject>PptxGenJS Presentation</dc:subject>
  <dc:creator>PptxGenJS</dc:creator>
  <cp:lastModifiedBy>srija varma</cp:lastModifiedBy>
  <cp:revision>2</cp:revision>
  <dcterms:created xsi:type="dcterms:W3CDTF">2026-05-09T07:31:35Z</dcterms:created>
  <dcterms:modified xsi:type="dcterms:W3CDTF">2026-05-09T07:43:06Z</dcterms:modified>
</cp:coreProperties>
</file>